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De l'API au RAG</a:t>
            </a:r>
          </a:p>
          <a:p>
            <a:r>
              <a:rPr sz="1800" b="0" i="0">
                <a:solidFill>
                  <a:srgbClr val="CFD6E4"/>
                </a:solidFill>
                <a:latin typeface="Calibri"/>
              </a:rPr>
              <a:t>Concevoir un assistant conversationnel fiable pour la relation client d'une PME automobile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2A44"/>
                </a:solidFill>
                <a:latin typeface="Calibri"/>
              </a:rPr>
              <a:t>Cas d'étude : Diagperf — automatisation du traitement des demandes clients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555555"/>
                </a:solidFill>
                <a:latin typeface="Calibri"/>
              </a:rPr>
              <a:t>Hischem HAMMOUDI  ·  ING2 — Majeure Big Data &amp; Machine Learning  ·  EFREI Paris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555555"/>
                </a:solidFill>
                <a:latin typeface="Calibri"/>
              </a:rPr>
              <a:t>Tuteur pédagogique : Antoine MILES  ·  Tuteur entreprise : Youcef ZAID (Diagperf)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555555"/>
                </a:solidFill>
                <a:latin typeface="Calibri"/>
              </a:rPr>
              <a:t>Soutenance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Contexte &amp; enjeu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Diagperf : garage de reprogrammation moteur et de diagnostic électronique (Villenoy, équipe de 3)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Demandes clients : devis, rendez-vous, questions techniques (E85, codes défauts) — surtout par téléphone, 1 à 4 / jour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Traitement répétitif, mais à forte intensité de conseil (vérifier une compatibilité, annoncer un tarif exact)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Enjeu : automatiser sans jamais produire d'information fausse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un prix ou une compatibilité erronés = perte de confiance, voire litige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Problématique &amp; questions de recherche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15544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Comment concevoir un assistant conversationnel fiable pour une PME automobile, capable d'automatiser le traitement des demandes clients sans produire d'informations erronées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QR1 — Traiter des demandes variées en langage naturel, sans rupture de conversation 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QR2 — Le RAG réduit-il les hallucinations par rapport à un LLM par simple prompt 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QR3 — Où placer le savoir métier : figé dans le prompt, ou dans une base interrogeable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F2A44"/>
                </a:solidFill>
                <a:latin typeface="Calibri"/>
              </a:rPr>
              <a:t>1.  État de l'art — les approches d'automatisation conversationnelle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F2A44"/>
                </a:solidFill>
                <a:latin typeface="Calibri"/>
              </a:rPr>
              <a:t>2.  Conception — l'assistant en trois temps : V0 → V1 → V2 (RAG)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F2A44"/>
                </a:solidFill>
                <a:latin typeface="Calibri"/>
              </a:rPr>
              <a:t>3.  Évaluation — un benchmark contrôlé V1 vs V2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1F2A44"/>
                </a:solidFill>
                <a:latin typeface="Calibri"/>
              </a:rPr>
              <a:t>4.  Discussion, limites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État de l'art — 5 approches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Chatbots à règles / arbres de décision — déterministes, mais rigides (rupture de conversation)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LLM par prompt + API — comprennent le langage, mais hallucinent et le savoir est figé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RAG — ancrent chaque réponse dans une base documentaire interrogée à chaque requête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Fine-tuning (LoRA) — internalise un style/comportement, pas les faits ; exige des données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Agents / orchestration — action de bout en bout (perspective)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Pourquoi le RAG pour une PME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Dissocie la connaissance de la génération [Lewis et al., 2020]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L'ancrage documentaire réduit fortement les hallucinations [Shuster et al., 2021]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Maintenabilité : mettre à jour un tarif = éditer un fichier (aucun réentraînement)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Adapté au contexte : peu de données → le fine-tuning est exclu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La solution : un pipeline hybride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01" y="1463040"/>
            <a:ext cx="2437637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554480"/>
            <a:ext cx="6309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Webhook WhatsApp + signature HMAC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Flows déterministes pour les actions : devis, RDV, SAV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RAG + Claude pour les questions libres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Sortie JSON typée : le LLM répond ou (re)bascule vers un flow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→ souplesse du LLM + contrôle des actions sensibles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Vue client : le parcours nominal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ture d'écran 2026-06-25 154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875866" cy="32004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A44"/>
                </a:solidFill>
                <a:latin typeface="Calibri"/>
              </a:rPr>
              <a:t>Accueil : message de bienvenue + bouton « Nos prestations »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A44"/>
                </a:solidFill>
                <a:latin typeface="Calibri"/>
              </a:rPr>
              <a:t>Messages interactifs WhatsApp Business : boutons &amp; listes natifs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A44"/>
                </a:solidFill>
                <a:latin typeface="Calibri"/>
              </a:rPr>
              <a:t>Parcours guidé — l'utilisateur n'a pas à tout taper</a:t>
            </a:r>
          </a:p>
        </p:txBody>
      </p:sp>
      <p:pic>
        <p:nvPicPr>
          <p:cNvPr id="6" name="Picture 5" descr="Capture d'écran 2026-06-25 155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17320"/>
            <a:ext cx="3316084" cy="4297679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72400" y="58064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Les 8 prestations proposées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Une conception en trois temps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00" y="1463040"/>
            <a:ext cx="2354238" cy="45719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554480"/>
            <a:ext cx="6309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V0 — arbre de décision (boutons, sans LLM)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V1 — LLM par prompt : comprend le langage… mais invente les faits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V2 — RAG : réponses ancrées dans la base métier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Chaque étape corrige une limite concrète de la précédente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(évolution datée par l'historique git)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V1 — rupture de conversation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ture d'écran 2026-06-17 1049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731" y="1371600"/>
            <a:ext cx="7940232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F2A44"/>
                </a:solidFill>
                <a:latin typeface="Calibri"/>
              </a:rPr>
              <a:t>« Est-ce que je peux rouler tranquillement ? »  →  « Je n'ai pas bien saisi votre message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V1 — le flow à boutons rejette la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ture d'écran 2026-06-17 1049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429" y="1371600"/>
            <a:ext cx="6816835" cy="41148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F2A44"/>
                </a:solidFill>
                <a:latin typeface="Calibri"/>
              </a:rPr>
              <a:t>« Est-ce que je risque quelque chose après ma reprog ? »  →  « Merci de choisir un des stages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V1 — la question prise pour une plaque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ture d'écran 2026-06-17 1053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7" y="1371600"/>
            <a:ext cx="10789920" cy="2860362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4369121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F2A44"/>
                </a:solidFill>
                <a:latin typeface="Calibri"/>
              </a:rPr>
              <a:t>« Reprog pour un véhicule essence ? »  →  « Je n'ai pas reconnu la plaque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D9E75"/>
                </a:solidFill>
                <a:latin typeface="Calibri"/>
              </a:rPr>
              <a:t>Trois ruptures distinctes → la motivation du passage au RAG.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Architecture RAG (V2)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94" y="1463040"/>
            <a:ext cx="2555251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554480"/>
            <a:ext cx="6309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Indexation hors-ligne 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24 fichiers Q&amp;A → embeddings Google (384 dim) → Supabase pgvector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Interrogation en ligne 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expansion synonymes → recherche hybride (vecteur + plein-texte) → rerank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Contexte ancré injecté dans le prompt de Claude Haiku 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Côté technique : WhatsApp Business + backend Supabase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Canal — WhatsApp Business Platform (Meta Cloud API)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messages interactifs (boutons, listes), texte et messages vocaux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webhook entrant signé — HMAC-SHA256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Backend — Node.js + Express, hébergé sur Render (déploiement continu)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Supabase (PostgreSQL) — double rôle 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état de conversation : où en est le client (machine à états)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base de connaissances vectorielle (pgvector) pour le RAG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1F2A44"/>
                </a:solidFill>
                <a:latin typeface="Calibri"/>
              </a:rPr>
              <a:t>→ un seul backend orchestre : canal ↔ état ↔ RAG ↔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Le benchmark — protocole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31 questions : 28 ancrées sur la base + 3 cas réels de bugs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4 conditions, croisant prompt (baké / dépouillé) × RAG (oui / non) 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V1 baké sans RAG · V2 baké + RAG · dépouillé sans RAG · dépouillé + RAG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Ablation : isole l'effet causal pur du RAG, toutes choses égales par ailleurs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Juge : Claude Opus 4.8 — méthodologie « LLM-as-a-judge » [Zheng et al.,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Résultats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resul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343825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645920"/>
            <a:ext cx="3108960" cy="1371600"/>
          </a:xfrm>
          <a:prstGeom prst="round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1D9E75"/>
                </a:solidFill>
                <a:latin typeface="Calibri"/>
              </a:rPr>
              <a:t>0,66 → 0,98</a:t>
            </a:r>
          </a:p>
          <a:p>
            <a:pPr algn="ctr"/>
            <a:r>
              <a:rPr sz="1400" b="0" i="0">
                <a:solidFill>
                  <a:srgbClr val="1F2A44"/>
                </a:solidFill>
                <a:latin typeface="Calibri"/>
              </a:rPr>
              <a:t>Exactitude (effet du RAG)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200400"/>
            <a:ext cx="3108960" cy="1371600"/>
          </a:xfrm>
          <a:prstGeom prst="round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C0392B"/>
                </a:solidFill>
                <a:latin typeface="Calibri"/>
              </a:rPr>
              <a:t>9 → 0</a:t>
            </a:r>
          </a:p>
          <a:p>
            <a:pPr algn="ctr"/>
            <a:r>
              <a:rPr sz="1400" b="0" i="0">
                <a:solidFill>
                  <a:srgbClr val="1F2A44"/>
                </a:solidFill>
                <a:latin typeface="Calibri"/>
              </a:rPr>
              <a:t>Hallucinations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463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Calibri"/>
              </a:rPr>
              <a:t>Le RAG quasi-double l'exactitude et supprime les hallucinations.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Le RAG ne règle pas tout — 3 nuances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Baker le savoir dans le prompt peut tromper : règles qui se contaminent (9 hallucinations en V1)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Le savoir baké entre en conflit avec le RAG (V2 : 1 hallucination résiduelle)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Sur les codes défauts OBD : aucun apport (connaissance générale, déjà maîtrisée)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En revanche, la rupture de conversation est bien corrigée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Recommandation d'ingénierie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Sortir l'intégralité des faits (prix, compatibilités) du prompt → 100 % via le RAG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La meilleure configuration n'est pas celle livrée, mais le prompt dépouillé + RAG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291840"/>
            <a:ext cx="3108960" cy="1371600"/>
          </a:xfrm>
          <a:prstGeom prst="round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1D9E75"/>
                </a:solidFill>
                <a:latin typeface="Calibri"/>
              </a:rPr>
              <a:t>0,98</a:t>
            </a:r>
          </a:p>
          <a:p>
            <a:pPr algn="ctr"/>
            <a:r>
              <a:rPr sz="1400" b="0" i="0">
                <a:solidFill>
                  <a:srgbClr val="1F2A44"/>
                </a:solidFill>
                <a:latin typeface="Calibri"/>
              </a:rPr>
              <a:t>Exactitude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291840"/>
            <a:ext cx="3108960" cy="1371600"/>
          </a:xfrm>
          <a:prstGeom prst="round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C0392B"/>
                </a:solidFill>
                <a:latin typeface="Calibri"/>
              </a:rPr>
              <a:t>0</a:t>
            </a:r>
          </a:p>
          <a:p>
            <a:pPr algn="ctr"/>
            <a:r>
              <a:rPr sz="1400" b="0" i="0">
                <a:solidFill>
                  <a:srgbClr val="1F2A44"/>
                </a:solidFill>
                <a:latin typeface="Calibri"/>
              </a:rPr>
              <a:t>Hallucination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291840"/>
            <a:ext cx="3108960" cy="1371600"/>
          </a:xfrm>
          <a:prstGeom prst="roundRect">
            <a:avLst/>
          </a:prstGeom>
          <a:solidFill>
            <a:srgbClr val="F1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1D9E75"/>
                </a:solidFill>
                <a:latin typeface="Calibri"/>
              </a:rPr>
              <a:t>↓ coût</a:t>
            </a:r>
          </a:p>
          <a:p>
            <a:pPr algn="ctr"/>
            <a:r>
              <a:rPr sz="1400" b="0" i="0">
                <a:solidFill>
                  <a:srgbClr val="1F2A44"/>
                </a:solidFill>
                <a:latin typeface="Calibri"/>
              </a:rPr>
              <a:t>Moins 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2A44"/>
                </a:solidFill>
                <a:latin typeface="Calibri"/>
              </a:rPr>
              <a:t>Plus exact, moins cher, et plus simple à maintenir (un tarif = un fichier édité).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Limites &amp; perspectives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Limites 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benchmark hors-ligne (assistant pas encore déployé)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juge LLM faillible ; qualité bornée par celle des sources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Perspectives 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agents outillés : devis et RDV automatiques de bout en bout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extension multilingue (FR / AR) ; affinage du ton par fine-tuning léger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2A44"/>
                </a:solidFill>
                <a:latin typeface="Calibri"/>
              </a:rPr>
              <a:t>Conclusion &amp; apports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828800" cy="5080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Le RAG rend l'assistant fiable et maintenable pour une PME — démontré, chiffres à l'appui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Apports techniques : pipeline RAG de bout en bout, déploiement, évaluation rigoureuse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Apports transverses : conduite de projet en autonomie, de la V0 à la mise en production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0" i="0">
                <a:solidFill>
                  <a:srgbClr val="1D9E75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1F2A44"/>
                </a:solidFill>
                <a:latin typeface="Calibri"/>
              </a:rPr>
              <a:t>Compétences iziA couvertes : 2.1 analyser → 2.2 concevoir → 2.3 mettre en œuvre → 2.4 exploiter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55555"/>
                </a:solidFill>
                <a:latin typeface="Calibri"/>
              </a:rPr>
              <a:t>De l'API au RAG — Hischem Hammoudi — DiagPerf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190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  <a:p>
            <a:pPr algn="ctr">
              <a:spcBef>
                <a:spcPts val="1400"/>
              </a:spcBef>
            </a:pPr>
            <a:r>
              <a:rPr sz="2200" b="0" i="0">
                <a:solidFill>
                  <a:srgbClr val="1D9E75"/>
                </a:solidFill>
                <a:latin typeface="Calibr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